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169e81d5064e91" /><Relationship Type="http://schemas.openxmlformats.org/officeDocument/2006/relationships/extended-properties" Target="/docProps/app.xml" Id="R7def170a44fa4c3c" /><Relationship Type="http://schemas.openxmlformats.org/officeDocument/2006/relationships/officeDocument" Target="/ppt/presentation.xml" Id="R6b3a450963af4c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48477749d74349"/>
  </p:sldMasterIdLst>
  <p:notesMasterIdLst>
    <p:notesMasterId xmlns:r="http://schemas.openxmlformats.org/officeDocument/2006/relationships" r:id="Rcff4b6861ac84f98"/>
  </p:notesMasterIdLst>
  <p:sldIdLst>
    <p:sldId xmlns:r="http://schemas.openxmlformats.org/officeDocument/2006/relationships" id="256" r:id="Rf5fdf1f392b84c4b"/>
    <p:sldId xmlns:r="http://schemas.openxmlformats.org/officeDocument/2006/relationships" id="257" r:id="R8f6aebeb32994c24"/>
    <p:sldId xmlns:r="http://schemas.openxmlformats.org/officeDocument/2006/relationships" id="258" r:id="R9b2607ab3a3b45ae"/>
    <p:sldId xmlns:r="http://schemas.openxmlformats.org/officeDocument/2006/relationships" id="259" r:id="Re3b14487455843f8"/>
    <p:sldId xmlns:r="http://schemas.openxmlformats.org/officeDocument/2006/relationships" id="260" r:id="Rddb6ba53ec6c4bbe"/>
    <p:sldId xmlns:r="http://schemas.openxmlformats.org/officeDocument/2006/relationships" id="261" r:id="Ra0ea3b9a94a2446b"/>
    <p:sldId xmlns:r="http://schemas.openxmlformats.org/officeDocument/2006/relationships" id="262" r:id="R78b8140c1a1c48ff"/>
    <p:sldId xmlns:r="http://schemas.openxmlformats.org/officeDocument/2006/relationships" id="263" r:id="Rc7d1208d001b45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275cc7a34b427f" /><Relationship Type="http://schemas.openxmlformats.org/officeDocument/2006/relationships/slideMaster" Target="/ppt/slideMasters/slideMaster1.xml" Id="R4348477749d74349" /><Relationship Type="http://schemas.openxmlformats.org/officeDocument/2006/relationships/notesMaster" Target="/ppt/notesMasters/notesMaster1.xml" Id="Rcff4b6861ac84f98" /><Relationship Type="http://schemas.openxmlformats.org/officeDocument/2006/relationships/presProps" Target="/ppt/presProps.xml" Id="R81f714b6d5bb4c06" /><Relationship Type="http://schemas.openxmlformats.org/officeDocument/2006/relationships/tableStyles" Target="/ppt/tableStyles.xml" Id="Ra66041434d5d4e39" /><Relationship Type="http://schemas.openxmlformats.org/officeDocument/2006/relationships/slide" Target="/ppt/slides/slide1.xml" Id="Rf5fdf1f392b84c4b" /><Relationship Type="http://schemas.openxmlformats.org/officeDocument/2006/relationships/slide" Target="/ppt/slides/slide2.xml" Id="R8f6aebeb32994c24" /><Relationship Type="http://schemas.openxmlformats.org/officeDocument/2006/relationships/slide" Target="/ppt/slides/slide3.xml" Id="R9b2607ab3a3b45ae" /><Relationship Type="http://schemas.openxmlformats.org/officeDocument/2006/relationships/slide" Target="/ppt/slides/slide4.xml" Id="Re3b14487455843f8" /><Relationship Type="http://schemas.openxmlformats.org/officeDocument/2006/relationships/slide" Target="/ppt/slides/slide5.xml" Id="Rddb6ba53ec6c4bbe" /><Relationship Type="http://schemas.openxmlformats.org/officeDocument/2006/relationships/slide" Target="/ppt/slides/slide6.xml" Id="Ra0ea3b9a94a2446b" /><Relationship Type="http://schemas.openxmlformats.org/officeDocument/2006/relationships/slide" Target="/ppt/slides/slide7.xml" Id="R78b8140c1a1c48ff" /><Relationship Type="http://schemas.openxmlformats.org/officeDocument/2006/relationships/slide" Target="/ppt/slides/slide8.xml" Id="Rc7d1208d001b45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7b59c0f75641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IMRS publication figures">
      <a:dk1>
        <a:srgbClr val="000000"/>
      </a:dk1>
      <a:lt1>
        <a:srgbClr val="FFFFFF"/>
      </a:lt1>
      <a:dk2>
        <a:srgbClr val="404040"/>
      </a:dk2>
      <a:lt2>
        <a:srgbClr val="F2F2F2"/>
      </a:lt2>
      <a:accent1>
        <a:srgbClr val="4E79A7"/>
      </a:accent1>
      <a:accent2>
        <a:srgbClr val="E07A5F"/>
      </a:accent2>
      <a:accent3>
        <a:srgbClr val="7E62A3"/>
      </a:accent3>
      <a:accent4>
        <a:srgbClr val="59A14F"/>
      </a:accent4>
      <a:accent5>
        <a:srgbClr val="F28E2B"/>
      </a:accent5>
      <a:accent6>
        <a:srgbClr val="2F4B7C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MRS publication figure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6ba3a5d62e4454" /><Relationship Type="http://schemas.openxmlformats.org/officeDocument/2006/relationships/notesMaster" Target="/ppt/notesMasters/notesMaster1.xml" Id="R34b2dfe7245e4e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39b47f7d094f38" /><Relationship Type="http://schemas.openxmlformats.org/officeDocument/2006/relationships/notesMaster" Target="/ppt/notesMasters/notesMaster1.xml" Id="R555b02caac8c4d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b2a01dc0354502" /><Relationship Type="http://schemas.openxmlformats.org/officeDocument/2006/relationships/notesMaster" Target="/ppt/notesMasters/notesMaster1.xml" Id="R7bd060c69a4045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31ad2f4430499e" /><Relationship Type="http://schemas.openxmlformats.org/officeDocument/2006/relationships/notesMaster" Target="/ppt/notesMasters/notesMaster1.xml" Id="R67b65bdbc04948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fb57d0c67c4aec" /><Relationship Type="http://schemas.openxmlformats.org/officeDocument/2006/relationships/notesMaster" Target="/ppt/notesMasters/notesMaster1.xml" Id="R190c53cc082b49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c68e4598e844f0" /><Relationship Type="http://schemas.openxmlformats.org/officeDocument/2006/relationships/notesMaster" Target="/ppt/notesMasters/notesMaster1.xml" Id="R44352f5b2b2140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cc48c6cb604448" /><Relationship Type="http://schemas.openxmlformats.org/officeDocument/2006/relationships/notesMaster" Target="/ppt/notesMasters/notesMaster1.xml" Id="Rc28ea6db87b242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05e748a3fe4b1a" /><Relationship Type="http://schemas.openxmlformats.org/officeDocument/2006/relationships/notesMaster" Target="/ppt/notesMasters/notesMaster1.xml" Id="Red1b646649ca48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f99494937c4c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68f985c68345b0" /><Relationship Type="http://schemas.openxmlformats.org/officeDocument/2006/relationships/slideLayout" Target="/ppt/slideLayouts/slideLayout1.xml" Id="R64c70100317348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c70100317348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IMRS publication figures">
      <a:dk1>
        <a:srgbClr val="000000"/>
      </a:dk1>
      <a:lt1>
        <a:srgbClr val="FFFFFF"/>
      </a:lt1>
      <a:dk2>
        <a:srgbClr val="404040"/>
      </a:dk2>
      <a:lt2>
        <a:srgbClr val="F2F2F2"/>
      </a:lt2>
      <a:accent1>
        <a:srgbClr val="4E79A7"/>
      </a:accent1>
      <a:accent2>
        <a:srgbClr val="E07A5F"/>
      </a:accent2>
      <a:accent3>
        <a:srgbClr val="7E62A3"/>
      </a:accent3>
      <a:accent4>
        <a:srgbClr val="59A14F"/>
      </a:accent4>
      <a:accent5>
        <a:srgbClr val="F28E2B"/>
      </a:accent5>
      <a:accent6>
        <a:srgbClr val="2F4B7C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MRS publication figure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d0eb513ff4639" /><Relationship Type="http://schemas.openxmlformats.org/officeDocument/2006/relationships/image" Target="/ppt/media/image.png" Id="Re9784d03f99247b9" /><Relationship Type="http://schemas.openxmlformats.org/officeDocument/2006/relationships/image" Target="/ppt/media/image.svg" Id="R42768977b3324d16" /><Relationship Type="http://schemas.openxmlformats.org/officeDocument/2006/relationships/notesSlide" Target="/ppt/notesSlides/notesSlide1.xml" Id="Rae2c544c598d4d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a970fee7440fd" /><Relationship Type="http://schemas.openxmlformats.org/officeDocument/2006/relationships/image" Target="/ppt/media/image2.png" Id="Rec8be3a6fe544f59" /><Relationship Type="http://schemas.openxmlformats.org/officeDocument/2006/relationships/image" Target="/ppt/media/image2.svg" Id="R24ad85cd6d3d44e9" /><Relationship Type="http://schemas.openxmlformats.org/officeDocument/2006/relationships/notesSlide" Target="/ppt/notesSlides/notesSlide2.xml" Id="Rce7c9987413f42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58cadbb57495e" /><Relationship Type="http://schemas.openxmlformats.org/officeDocument/2006/relationships/image" Target="/ppt/media/image3.png" Id="Rf4760a835f6c449a" /><Relationship Type="http://schemas.openxmlformats.org/officeDocument/2006/relationships/image" Target="/ppt/media/image3.svg" Id="R4023e04b1f164827" /><Relationship Type="http://schemas.openxmlformats.org/officeDocument/2006/relationships/notesSlide" Target="/ppt/notesSlides/notesSlide3.xml" Id="Rc4456e9e15774d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d5f4d070641c7" /><Relationship Type="http://schemas.openxmlformats.org/officeDocument/2006/relationships/image" Target="/ppt/media/image4.png" Id="Rfa296bd15cf843a4" /><Relationship Type="http://schemas.openxmlformats.org/officeDocument/2006/relationships/notesSlide" Target="/ppt/notesSlides/notesSlide4.xml" Id="Re682aad56f7747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6b32a009b4196" /><Relationship Type="http://schemas.openxmlformats.org/officeDocument/2006/relationships/image" Target="/ppt/media/image5.png" Id="R4262805c9b6a414d" /><Relationship Type="http://schemas.openxmlformats.org/officeDocument/2006/relationships/image" Target="/ppt/media/image4.svg" Id="Re34f5cf54f8046ea" /><Relationship Type="http://schemas.openxmlformats.org/officeDocument/2006/relationships/notesSlide" Target="/ppt/notesSlides/notesSlide5.xml" Id="R1255f17656164f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f46ddd860404c" /><Relationship Type="http://schemas.openxmlformats.org/officeDocument/2006/relationships/image" Target="/ppt/media/image6.png" Id="R2156bccb9c7044a3" /><Relationship Type="http://schemas.openxmlformats.org/officeDocument/2006/relationships/image" Target="/ppt/media/image5.svg" Id="R342f393ba98047e3" /><Relationship Type="http://schemas.openxmlformats.org/officeDocument/2006/relationships/notesSlide" Target="/ppt/notesSlides/notesSlide6.xml" Id="R5095d54dcbd645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e5bcb58494de1" /><Relationship Type="http://schemas.openxmlformats.org/officeDocument/2006/relationships/image" Target="/ppt/media/image7.png" Id="R6aee76aa026840a4" /><Relationship Type="http://schemas.openxmlformats.org/officeDocument/2006/relationships/image" Target="/ppt/media/image6.svg" Id="R157b3870086e43e6" /><Relationship Type="http://schemas.openxmlformats.org/officeDocument/2006/relationships/notesSlide" Target="/ppt/notesSlides/notesSlide7.xml" Id="Rdd679b62736f4a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7f09fdd0b48fe" /><Relationship Type="http://schemas.openxmlformats.org/officeDocument/2006/relationships/image" Target="/ppt/media/image8.png" Id="R77f5f80396de4fd6" /><Relationship Type="http://schemas.openxmlformats.org/officeDocument/2006/relationships/image" Target="/ppt/media/image7.svg" Id="R97bbc25cd1cf4ed6" /><Relationship Type="http://schemas.openxmlformats.org/officeDocument/2006/relationships/notesSlide" Target="/ppt/notesSlides/notesSlide8.xml" Id="Rf9cab8d2ed6c4e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FIGURE 1 Final R Compos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784d03f99247b9">
            <a:extLst>
              <a:ext uri="{96DAC541-7B7A-43D3-8B79-37D633B846F1}">
                <asvg:svgBlip xmlns:asvg="http://schemas.microsoft.com/office/drawing/2016/SVG/main" r:embed="R42768977b3324d1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7672" y="133350"/>
            <a:ext cx="10756656" cy="5276850"/>
          </a:xfrm>
          <a:prstGeom xmlns:a="http://schemas.openxmlformats.org/drawingml/2006/main" prst="rect">
            <a:avLst/>
          </a:prstGeom>
        </p:spPr>
      </p:pic>
      <p:sp>
        <p:nvSpPr>
          <p:cNvPr id="2" name="FIGURE 1 Locked Caption">
            <a:extLst xmlns:a="http://schemas.openxmlformats.org/drawingml/2006/main">
              <a:ext uri="{FF2B5EF4-FFF2-40B4-BE49-F238E27FC236}">
                <a16:creationId xmlns:a16="http://schemas.microsoft.com/office/drawing/2014/main" id="{89F87EB1-D353-4B3E-B156-D14DAC78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86400"/>
            <a:ext cx="1104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"/>
              </a:spcAft>
              <a:defRPr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Figure 1. Frozen IMRS scoring framework and dataset-level delivery-minus-control ΔIMRSz landscape.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</a:t>
            </a:r>
            <a:r>
              <a:rPr sz="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Overview of the IMRS scoring and transfer-evaluation workflow. Delivery-versus-control split contrasts were defined from verified metadata and raw RNA-seq count matrices. Frozen IMRS gene coefficients were derived exclusively from the five locked-anchor datasets and were not refit during validation or transfer evaluation. Target datasets were scored using dataset-internal normalization, control-referenced gene z-scores, weighted sample-level IMRS scores, and control-standardized IMRSz values. </a:t>
            </a:r>
            <a:r>
              <a:rPr sz="9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</a:t>
            </a:r>
            <a:r>
              <a:rPr sz="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Dataset/context-level mean delivery-minus-control ΔIMRSz values across evaluated contexts. Point size indicates the number of passing split contrasts, and color indicates manuscript analysis group.</a:t>
            </a:r>
          </a:p>
        </p:txBody>
      </p:sp>
    </p:spTree>
    <p:extLst>
      <p:ext uri="{BB962C8B-B14F-4D97-AF65-F5344CB8AC3E}">
        <p14:creationId xmlns:p14="http://schemas.microsoft.com/office/powerpoint/2010/main" val="19285564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FIGURE 2 Final R Compos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8be3a6fe544f59">
            <a:extLst>
              <a:ext uri="{96DAC541-7B7A-43D3-8B79-37D633B846F1}">
                <asvg:svgBlip xmlns:asvg="http://schemas.microsoft.com/office/drawing/2016/SVG/main" r:embed="R24ad85cd6d3d44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159508" y="133350"/>
            <a:ext cx="7872984" cy="5467350"/>
          </a:xfrm>
          <a:prstGeom xmlns:a="http://schemas.openxmlformats.org/drawingml/2006/main" prst="rect">
            <a:avLst/>
          </a:prstGeom>
        </p:spPr>
      </p:pic>
      <p:sp>
        <p:nvSpPr>
          <p:cNvPr id="2" name="FIGURE 2 Locked Caption">
            <a:extLst xmlns:a="http://schemas.openxmlformats.org/drawingml/2006/main">
              <a:ext uri="{FF2B5EF4-FFF2-40B4-BE49-F238E27FC236}">
                <a16:creationId xmlns:a16="http://schemas.microsoft.com/office/drawing/2014/main" id="{F3D02776-2CA8-48AA-8FEE-682D9685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"/>
              </a:spcAft>
              <a:defRPr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Figure 2. Cross-anchor support and coefficient structure of the frozen IMRS model.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</a:t>
            </a:r>
            <a:r>
              <a:rPr sz="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Numbers of retained IMRS genes supported in all five locked-anchor datasets or in four of five locked-anchor datasets. Of the 287 retained genes, 178 were supported in all five anchors and 109 in four of five anchors. </a:t>
            </a:r>
            <a:r>
              <a:rPr sz="9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</a:t>
            </a:r>
            <a:r>
              <a:rPr sz="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Distribution of the missing anchor among the 109 genes supported in four of five locked anchors. Bar labels indicate the number of genes associated with each missing-anchor dataset. </a:t>
            </a:r>
            <a:r>
              <a:rPr sz="9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(C)</a:t>
            </a:r>
            <a:r>
              <a:rPr sz="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Distribution of the frozen IMRS gene coefficients across the 287 retained weighted genes. </a:t>
            </a:r>
            <a:r>
              <a:rPr sz="9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(D)</a:t>
            </a:r>
            <a:r>
              <a:rPr sz="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Retained genes with the largest absolute frozen IMRS coefficients.</a:t>
            </a:r>
          </a:p>
        </p:txBody>
      </p:sp>
    </p:spTree>
    <p:extLst>
      <p:ext uri="{BB962C8B-B14F-4D97-AF65-F5344CB8AC3E}">
        <p14:creationId xmlns:p14="http://schemas.microsoft.com/office/powerpoint/2010/main" val="15754966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FIGURE 3 Final R Compos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60a835f6c449a">
            <a:extLst>
              <a:ext uri="{96DAC541-7B7A-43D3-8B79-37D633B846F1}">
                <asvg:svgBlip xmlns:asvg="http://schemas.microsoft.com/office/drawing/2016/SVG/main" r:embed="R4023e04b1f1648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606586"/>
            <a:ext cx="11277600" cy="4139878"/>
          </a:xfrm>
          <a:prstGeom xmlns:a="http://schemas.openxmlformats.org/drawingml/2006/main" prst="rect">
            <a:avLst/>
          </a:prstGeom>
        </p:spPr>
      </p:pic>
      <p:sp>
        <p:nvSpPr>
          <p:cNvPr id="2" name="FIGURE 3 Locked Caption">
            <a:extLst xmlns:a="http://schemas.openxmlformats.org/drawingml/2006/main">
              <a:ext uri="{FF2B5EF4-FFF2-40B4-BE49-F238E27FC236}">
                <a16:creationId xmlns:a16="http://schemas.microsoft.com/office/drawing/2014/main" id="{E09B881A-7A88-4B4A-AD19-CCC26B08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2664"/>
            <a:ext cx="1104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"/>
              </a:spcAft>
              <a:defRPr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Figure 3. Frozen IMRS scoring in primary acute and extended validation datasets.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</a:t>
            </a:r>
            <a:r>
              <a:rPr sz="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Contrast-level delivery-minus-control ΔIMRSz values in the primary acute-validation and extended-validation groups. Primary acute validation included 14 split contrasts, all with positive ΔIMRSz, with a mean ΔIMRSz of 10.87. Extended validation included 11 split contrasts, 9 of which had positive ΔIMRSz, with a mean ΔIMRSz of 1.36. Points represent individual split contrasts; boxes show the interquartile range, with the median indicated by the central line. </a:t>
            </a:r>
            <a:r>
              <a:rPr sz="9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</a:t>
            </a:r>
            <a:r>
              <a:rPr sz="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Nested split-contrast ΔIMRSz values for the three independent primary acute-validation datasets. Points represent individual split contrasts, horizontal lines indicate the observed split-contrast range within each dataset, and diamonds indicate dataset-level mean ΔIMRSz. Dataset-level mean ΔIMRSz values were 11.92 for GSE139529, 10.74 for GSE119119, and 8.15 for GSE279743.</a:t>
            </a:r>
          </a:p>
        </p:txBody>
      </p:sp>
    </p:spTree>
    <p:extLst>
      <p:ext uri="{BB962C8B-B14F-4D97-AF65-F5344CB8AC3E}">
        <p14:creationId xmlns:p14="http://schemas.microsoft.com/office/powerpoint/2010/main" val="20963055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FIGURE 4 Final R Compos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96bd15cf843a4"/>
          <a:stretch xmlns:a="http://schemas.openxmlformats.org/drawingml/2006/main"/>
        </p:blipFill>
        <p:spPr>
          <a:xfrm xmlns:a="http://schemas.openxmlformats.org/drawingml/2006/main">
            <a:off x="457200" y="687128"/>
            <a:ext cx="11277600" cy="4169295"/>
          </a:xfrm>
          <a:prstGeom xmlns:a="http://schemas.openxmlformats.org/drawingml/2006/main" prst="rect">
            <a:avLst/>
          </a:prstGeom>
        </p:spPr>
      </p:pic>
      <p:sp>
        <p:nvSpPr>
          <p:cNvPr id="2" name="FIGURE 4 Locked Caption">
            <a:extLst xmlns:a="http://schemas.openxmlformats.org/drawingml/2006/main">
              <a:ext uri="{FF2B5EF4-FFF2-40B4-BE49-F238E27FC236}">
                <a16:creationId xmlns:a16="http://schemas.microsoft.com/office/drawing/2014/main" id="{8FC78AA1-0892-48B0-8FC2-2A84570C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2622"/>
            <a:ext cx="1104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"/>
              </a:spcAft>
              <a:defRPr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Figure 4. IMRS responses across context-shifted settings and an adenoviral-vector time course.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</a:t>
            </a:r>
            <a:r>
              <a:rPr sz="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Delivery-minus-control ΔIMRSz values for extended-validation and secondary-support contexts, grouped by biological context category. Points represent individual scored contexts and are colored by manuscript analysis group. Selected dataset/time-point labels identify representative observations. </a:t>
            </a:r>
            <a:r>
              <a:rPr sz="9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</a:t>
            </a:r>
            <a:r>
              <a:rPr sz="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Mean delivery-minus-control ΔIMRSz values across blood, muscle, and draining lymph node in the GSE264344 adenoviral-vector time course. Lines connect observations across time within vector condition, colors indicate tissue, and point shapes indicate Ad26 or Ad5. The dashed vertical line marks 24 h.</a:t>
            </a:r>
          </a:p>
        </p:txBody>
      </p:sp>
    </p:spTree>
    <p:extLst>
      <p:ext uri="{BB962C8B-B14F-4D97-AF65-F5344CB8AC3E}">
        <p14:creationId xmlns:p14="http://schemas.microsoft.com/office/powerpoint/2010/main" val="10013115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FIGURE 5 Final R Compos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2805c9b6a414d">
            <a:extLst>
              <a:ext uri="{96DAC541-7B7A-43D3-8B79-37D633B846F1}">
                <asvg:svgBlip xmlns:asvg="http://schemas.microsoft.com/office/drawing/2016/SVG/main" r:embed="Re34f5cf54f8046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46090" y="133350"/>
            <a:ext cx="7699820" cy="4752975"/>
          </a:xfrm>
          <a:prstGeom xmlns:a="http://schemas.openxmlformats.org/drawingml/2006/main" prst="rect">
            <a:avLst/>
          </a:prstGeom>
        </p:spPr>
      </p:pic>
      <p:sp>
        <p:nvSpPr>
          <p:cNvPr id="2" name="FIGURE 5 Locked Caption">
            <a:extLst xmlns:a="http://schemas.openxmlformats.org/drawingml/2006/main">
              <a:ext uri="{FF2B5EF4-FFF2-40B4-BE49-F238E27FC236}">
                <a16:creationId xmlns:a16="http://schemas.microsoft.com/office/drawing/2014/main" id="{D0BF6C2D-37EB-4D13-A81B-9DD12D63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62525"/>
            <a:ext cx="11049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"/>
              </a:spcAft>
              <a:defRPr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Figure 5. Permutation and gene-sensitivity analyses of IMRS score shifts.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</a:t>
            </a:r>
            <a:r>
              <a:rPr sz="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Observed delivery-minus-control ΔIMRSz values for the 68 scored split contrasts compared with their within-contrast label-permutation null distributions. Points indicate observed ΔIMRSz values, and vertical intervals indicate the corresponding 95% permutation-null intervals. Contrasts are ordered by observed ΔIMRSz and colored by manuscript analysis group. </a:t>
            </a:r>
            <a:r>
              <a:rPr sz="9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</a:t>
            </a:r>
            <a:r>
              <a:rPr sz="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Observed delivery-minus-control ΔIMRSz values across locked-anchor, primary acute-validation, extended-validation, and secondary-support groups. Points represent individual split contrasts, and boxplots summarize the distribution within each manuscript analysis group. </a:t>
            </a:r>
            <a:r>
              <a:rPr sz="9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(C)</a:t>
            </a:r>
            <a:r>
              <a:rPr sz="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Leave-one-gene-out ΔIMRSz values compared with the corresponding original ΔIMRSz values across contrast-by-gene-removal analyses. The dashed diagonal line indicates equality between the original and leave-one-gene-out values. </a:t>
            </a:r>
            <a:r>
              <a:rPr sz="9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(D)</a:t>
            </a:r>
            <a:r>
              <a:rPr sz="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Mean maximum single-gene contribution percentages across manuscript analysis groups. Points represent individual contrasts, and boxplots summarize the distribution within each group. The dashed vertical line marks the overall mean maximum single-gene contribution across contrasts; the largest observed value is annotated.</a:t>
            </a:r>
          </a:p>
        </p:txBody>
      </p:sp>
    </p:spTree>
    <p:extLst>
      <p:ext uri="{BB962C8B-B14F-4D97-AF65-F5344CB8AC3E}">
        <p14:creationId xmlns:p14="http://schemas.microsoft.com/office/powerpoint/2010/main" val="4002477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FIGURE 6 Final R Compos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6bccb9c7044a3">
            <a:extLst>
              <a:ext uri="{96DAC541-7B7A-43D3-8B79-37D633B846F1}">
                <asvg:svgBlip xmlns:asvg="http://schemas.microsoft.com/office/drawing/2016/SVG/main" r:embed="R342f393ba98047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91707"/>
            <a:ext cx="11277600" cy="5112512"/>
          </a:xfrm>
          <a:prstGeom xmlns:a="http://schemas.openxmlformats.org/drawingml/2006/main" prst="rect">
            <a:avLst/>
          </a:prstGeom>
        </p:spPr>
      </p:pic>
      <p:sp>
        <p:nvSpPr>
          <p:cNvPr id="2" name="FIGURE 6 Locked Caption">
            <a:extLst xmlns:a="http://schemas.openxmlformats.org/drawingml/2006/main">
              <a:ext uri="{FF2B5EF4-FFF2-40B4-BE49-F238E27FC236}">
                <a16:creationId xmlns:a16="http://schemas.microsoft.com/office/drawing/2014/main" id="{4DB1BF2F-74CB-45CD-A17E-F8632D82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0419"/>
            <a:ext cx="1104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"/>
              </a:spcAft>
              <a:defRPr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Figure 6. Comparator immune-signature responses across manuscript analysis groups.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</a:t>
            </a:r>
            <a:r>
              <a:rPr sz="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Delivery-minus-control score shifts for IMRS, the ISG signature, the chemokine/inflammatory signature, and the generic innate signature across locked-anchor, primary acute-validation, extended-validation, and secondary-support contrasts. Points represent individual split contrasts, and boxplots summarize the distribution within each manuscript analysis group. </a:t>
            </a:r>
            <a:r>
              <a:rPr sz="9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</a:t>
            </a:r>
            <a:r>
              <a:rPr sz="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Proportion of contrasts with positive delivery-minus-control score shifts for each signature within each manuscript analysis group. Bars indicate the percentage of contrasts with values greater than zero. Bars at 0% represent measured zero positive proportions rather than missing values.</a:t>
            </a:r>
          </a:p>
        </p:txBody>
      </p:sp>
    </p:spTree>
    <p:extLst>
      <p:ext uri="{BB962C8B-B14F-4D97-AF65-F5344CB8AC3E}">
        <p14:creationId xmlns:p14="http://schemas.microsoft.com/office/powerpoint/2010/main" val="10101555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SUPPLEMENTARY FIGURE S1 Final R Compos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e76aa026840a4">
            <a:extLst>
              <a:ext uri="{96DAC541-7B7A-43D3-8B79-37D633B846F1}">
                <asvg:svgBlip xmlns:asvg="http://schemas.microsoft.com/office/drawing/2016/SVG/main" r:embed="R157b3870086e43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2490" y="133350"/>
            <a:ext cx="3367020" cy="5086350"/>
          </a:xfrm>
          <a:prstGeom xmlns:a="http://schemas.openxmlformats.org/drawingml/2006/main" prst="rect">
            <a:avLst/>
          </a:prstGeom>
        </p:spPr>
      </p:pic>
      <p:sp>
        <p:nvSpPr>
          <p:cNvPr id="2" name="SUPPLEMENTARY FIGURE S1 Locked Caption">
            <a:extLst xmlns:a="http://schemas.openxmlformats.org/drawingml/2006/main">
              <a:ext uri="{FF2B5EF4-FFF2-40B4-BE49-F238E27FC236}">
                <a16:creationId xmlns:a16="http://schemas.microsoft.com/office/drawing/2014/main" id="{1D10C504-48AD-4CAE-A100-72F93A44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1104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"/>
              </a:spcAft>
              <a:defRPr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Supplementary Figure S1. Detailed dataset/context IMRS summaries and biological-context composition of context-shifted contrasts.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</a:t>
            </a:r>
            <a:r>
              <a:rPr sz="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Dataset/context-level mean delivery-minus-control ΔIMRSz values across locked-anchor, primary acute-validation, extended-validation, and secondary-support groups. Points are colored by manuscript analysis group, and point size indicates the number of passing split contrasts contributing to each dataset/context summary. Group labels on the right indicate the corresponding manuscript analysis category. </a:t>
            </a:r>
            <a:r>
              <a:rPr sz="9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</a:t>
            </a:r>
            <a:r>
              <a:rPr sz="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Number of context-shifted contrasts assigned to each biological context category. Bars show the counts of contrasts classified as tissue/time-course context, therapeutic cargo/context, disease-rescue model, late time point, distal/adaptive tissue context, or low-inflammatory formulation context.</a:t>
            </a:r>
          </a:p>
        </p:txBody>
      </p:sp>
    </p:spTree>
    <p:extLst>
      <p:ext uri="{BB962C8B-B14F-4D97-AF65-F5344CB8AC3E}">
        <p14:creationId xmlns:p14="http://schemas.microsoft.com/office/powerpoint/2010/main" val="5502791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SUPPLEMENTARY FIGURE S2 Final R Compos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5f80396de4fd6">
            <a:extLst>
              <a:ext uri="{96DAC541-7B7A-43D3-8B79-37D633B846F1}">
                <asvg:svgBlip xmlns:asvg="http://schemas.microsoft.com/office/drawing/2016/SVG/main" r:embed="R97bbc25cd1cf4e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25298" y="133350"/>
            <a:ext cx="2741404" cy="5419725"/>
          </a:xfrm>
          <a:prstGeom xmlns:a="http://schemas.openxmlformats.org/drawingml/2006/main" prst="rect">
            <a:avLst/>
          </a:prstGeom>
        </p:spPr>
      </p:pic>
      <p:sp>
        <p:nvSpPr>
          <p:cNvPr id="2" name="SUPPLEMENTARY FIGURE S2 Locked Caption">
            <a:extLst xmlns:a="http://schemas.openxmlformats.org/drawingml/2006/main">
              <a:ext uri="{FF2B5EF4-FFF2-40B4-BE49-F238E27FC236}">
                <a16:creationId xmlns:a16="http://schemas.microsoft.com/office/drawing/2014/main" id="{E2A52A7B-D2A1-481D-95CE-30AEF876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"/>
              </a:spcAft>
              <a:defRPr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Supplementary Figure S2. Gene-program enrichment of retained frozen IMRS genes.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</a:t>
            </a:r>
            <a:r>
              <a:rPr sz="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GO Biological Process over-representation analysis of the 287 retained frozen IMRS genes. </a:t>
            </a:r>
            <a:r>
              <a:rPr sz="9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</a:t>
            </a:r>
            <a:r>
              <a:rPr sz="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Reactome pathway enrichment analysis of the same retained gene set. </a:t>
            </a:r>
            <a:r>
              <a:rPr sz="9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(C)</a:t>
            </a:r>
            <a:r>
              <a:rPr sz="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MSigDB Hallmark enrichment analysis of the retained frozen IMRS genes. Dot size indicates the number of retained IMRS genes overlapping each term, and color indicates −log10(FDR).</a:t>
            </a:r>
          </a:p>
        </p:txBody>
      </p:sp>
    </p:spTree>
    <p:extLst>
      <p:ext uri="{BB962C8B-B14F-4D97-AF65-F5344CB8AC3E}">
        <p14:creationId xmlns:p14="http://schemas.microsoft.com/office/powerpoint/2010/main" val="84902707"/>
      </p:ext>
    </p:extLst>
  </p:cSld>
</p:sld>
</file>

<file path=ppt/theme/theme1.xml><?xml version="1.0" encoding="utf-8"?>
<a:theme xmlns:a="http://schemas.openxmlformats.org/drawingml/2006/main" name="ChatGPT">
  <a:themeElements>
    <a:clrScheme name="IMRS publication figures">
      <a:dk1>
        <a:srgbClr val="000000"/>
      </a:dk1>
      <a:lt1>
        <a:srgbClr val="FFFFFF"/>
      </a:lt1>
      <a:dk2>
        <a:srgbClr val="404040"/>
      </a:dk2>
      <a:lt2>
        <a:srgbClr val="F2F2F2"/>
      </a:lt2>
      <a:accent1>
        <a:srgbClr val="4E79A7"/>
      </a:accent1>
      <a:accent2>
        <a:srgbClr val="E07A5F"/>
      </a:accent2>
      <a:accent3>
        <a:srgbClr val="7E62A3"/>
      </a:accent3>
      <a:accent4>
        <a:srgbClr val="59A14F"/>
      </a:accent4>
      <a:accent5>
        <a:srgbClr val="F28E2B"/>
      </a:accent5>
      <a:accent6>
        <a:srgbClr val="2F4B7C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MRS publication figure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2026-09-10T22:55:32.1200000Z</dcterms:created>
  <dcterms:modified xsi:type="dcterms:W3CDTF">2026-09-10T22:55:32.1200000Z</dcterms:modified>
</coreProperties>
</file>